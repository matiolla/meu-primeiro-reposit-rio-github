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3"/>
  </p:notesMasterIdLst>
  <p:sldIdLst>
    <p:sldId id="256" r:id="rId3"/>
    <p:sldId id="302" r:id="rId4"/>
    <p:sldId id="261" r:id="rId5"/>
    <p:sldId id="301" r:id="rId6"/>
    <p:sldId id="26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7" r:id="rId21"/>
    <p:sldId id="316" r:id="rId22"/>
    <p:sldId id="318" r:id="rId23"/>
    <p:sldId id="319" r:id="rId24"/>
    <p:sldId id="322" r:id="rId25"/>
    <p:sldId id="323" r:id="rId26"/>
    <p:sldId id="324" r:id="rId27"/>
    <p:sldId id="325" r:id="rId28"/>
    <p:sldId id="326" r:id="rId29"/>
    <p:sldId id="328" r:id="rId30"/>
    <p:sldId id="327" r:id="rId31"/>
    <p:sldId id="321" r:id="rId32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96" autoAdjust="0"/>
  </p:normalViewPr>
  <p:slideViewPr>
    <p:cSldViewPr snapToGrid="0">
      <p:cViewPr varScale="1">
        <p:scale>
          <a:sx n="64" d="100"/>
          <a:sy n="64" d="100"/>
        </p:scale>
        <p:origin x="29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9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DFD25-F8AC-44FF-966B-F1F2F8272EBC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24241-0467-4A13-AC93-E88C7979C6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52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42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>
                <a:solidFill>
                  <a:srgbClr val="005696"/>
                </a:solidFill>
                <a:latin typeface="Arial"/>
                <a:ea typeface="DejaVu Sans"/>
              </a:rPr>
              <a:t>Prof.: Roberto Silva Alves</a:t>
            </a:r>
            <a:endParaRPr lang="pt-BR" sz="1600" b="0" strike="noStrike" spc="-1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388620" y="2019440"/>
            <a:ext cx="1141476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pt-BR" sz="6000" dirty="0"/>
              <a:t>UC10</a:t>
            </a:r>
          </a:p>
          <a:p>
            <a:pPr algn="ctr">
              <a:lnSpc>
                <a:spcPct val="100000"/>
              </a:lnSpc>
            </a:pPr>
            <a:r>
              <a:rPr lang="pt-BR" sz="6000" dirty="0"/>
              <a:t>Gerenciar a Configuração e versionamento de Softwares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2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2779881" y="5260240"/>
            <a:ext cx="61926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Carga horária da UC!!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36 horas;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12 aulas;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Quantidade máxima de faltas: 9 faltas (3 dias)</a:t>
            </a:r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05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Critérios de Avaliação!!!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Assiduidade;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Desenvolvimento das Atividades;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Trabalho em equipe;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Desafios;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>
                <a:solidFill>
                  <a:srgbClr val="404040"/>
                </a:solidFill>
              </a:rPr>
              <a:t>Exercícios.</a:t>
            </a:r>
            <a:endParaRPr lang="pt-BR" sz="2400" dirty="0"/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22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459450" y="2684378"/>
            <a:ext cx="2751351" cy="3097975"/>
          </a:xfrm>
          <a:prstGeom prst="rect">
            <a:avLst/>
          </a:prstGeom>
          <a:ln>
            <a:noFill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85000"/>
              </a:lnSpc>
            </a:pPr>
            <a:r>
              <a:rPr lang="pt-BR" dirty="0"/>
              <a:t>      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Conceito final da UC!!!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16536" y="2176264"/>
            <a:ext cx="5112568" cy="30529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ND – Não desenvolveu (pode ser reprovado quando ficar abaixo de 75% de frequência ou por conhecimento)</a:t>
            </a:r>
          </a:p>
          <a:p>
            <a:pPr>
              <a:lnSpc>
                <a:spcPct val="100000"/>
              </a:lnSpc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pt-BR" sz="2400" dirty="0"/>
              <a:t>D - Desenvolveu</a:t>
            </a:r>
          </a:p>
        </p:txBody>
      </p:sp>
      <p:pic>
        <p:nvPicPr>
          <p:cNvPr id="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007768" y="4437113"/>
            <a:ext cx="2808312" cy="1890947"/>
          </a:xfrm>
          <a:prstGeom prst="rect">
            <a:avLst/>
          </a:prstGeom>
          <a:ln>
            <a:noFill/>
          </a:ln>
        </p:spPr>
      </p:pic>
      <p:pic>
        <p:nvPicPr>
          <p:cNvPr id="7" name="Picture 2"/>
          <p:cNvPicPr/>
          <p:nvPr/>
        </p:nvPicPr>
        <p:blipFill>
          <a:blip r:embed="rId4"/>
          <a:stretch>
            <a:fillRect/>
          </a:stretch>
        </p:blipFill>
        <p:spPr>
          <a:xfrm rot="820589">
            <a:off x="8796991" y="949319"/>
            <a:ext cx="1719360" cy="1488960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D9547B5-236B-4703-BEC8-5E2AABF2A4B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20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Conhecimentos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Gerenciamento de configuração: conceitos, softwares e ferramentas.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Versionamento de código: procedimentos, rotina de trabalho e aplicabilidade.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Manutenção de repositórios: operações de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branch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e merge.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Integração contínua: conceitos e ferramentas.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Armazenamento em nuvem: serviços disponíveis, utilização, vantagens e desvantagens.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932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Onde vamos utilizar?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Pense na seguinte situação: você precisa gerenciar um projeto de desenvolvimento de software que envolve uma equipe em nível global de pessoas desenvolvedoras.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Imagina o desafio que é quando cada uma das pessoas contribui com uma parte do código?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34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Onde vamos utilizar?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Como podemos assegurar que todas as peças vão se encaixar perfeitamente? Como garantir um trabalho em conjunto harmonioso?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É aí que entram as ferramentas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e GitHub, que, como você vai ver adiante, apresentam boas respostas para essas questões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026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Onde vamos utilizar?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Se você é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dev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ou está considerando entrar na área da tecnologia, é provável que já tenha se deparado com o termo "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e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Github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".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À primeira vista, pode parecer que "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" e "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Github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" são a mesma coisa, mas a resposta é não.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São ferramentas distintas, mas colaboram de maneira integrada para tornar o desenvolvimento de software mais eficiente.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8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2513880"/>
            <a:ext cx="10972440" cy="1144800"/>
          </a:xfrm>
        </p:spPr>
        <p:txBody>
          <a:bodyPr/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 que é GIT e GITHUB?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154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GIT e GITHUB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Github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é uma “rede social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dev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” em que é possível armazenar e compartilhar projetos de desenvolvimento de software.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é um sistema de controle de versão de arquivos; em outras palavras, é responsável por guardar o histórico de alterações sempre que alguém modificar algum arquivo que está sendo monitorado por ele.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89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GIT e GITHUB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Desta maneira, 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e o GitHub são pilares fundamentais que auxiliam as equipes de desenvolvimento a controlar o versionamento de código, rastrear mudanças, colaborar de forma eficiente e garantir que o trabalho em equipe flua sem problemas.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01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GIT e GITHUB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A imagem mostra um comparativo entre Git e Github. No lado esquerdo, situado o “Git” há as seguintes informações: Desenvolvido pela primeira vez em 2005; O Git é instalado e mantido no seu sistema local (em vez de na nuvem); Uma coisa que realmente distingue o Git é o seu modelo de ramificação; O Git é um sistema de controle de versões de alta qualidade. No Lado direito, situado o “Github”: Github foi projetado como um serviço de hospedagem de repositório Git; Github é exclusivamente baseado em nuvem; Você pode compartilhar seu código com outras pessoas, dando-lhes o poder de fazer revisões ou edições; O Github é um serviço de hospedagem baseado em nuvem">
            <a:extLst>
              <a:ext uri="{FF2B5EF4-FFF2-40B4-BE49-F238E27FC236}">
                <a16:creationId xmlns:a16="http://schemas.microsoft.com/office/drawing/2014/main" id="{9E5A0CAC-2189-4D6B-8DB4-C35800C53B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25"/>
          <a:stretch/>
        </p:blipFill>
        <p:spPr bwMode="auto">
          <a:xfrm>
            <a:off x="163488" y="1418400"/>
            <a:ext cx="10004474" cy="530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27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História do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Durante o período de 1991 a 2002 aconteceu a maior parte da manutenção do projeto de código aberto do núcleo do Linux. Diferentes pessoas eram responsáveis por essas mudanças e compartilhavam tarefas e arquivos.</a:t>
            </a:r>
          </a:p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Assim, em 2002, perceberam a necessidade de usar uma ferramenta de controle de versão distribuído (DVCS).</a:t>
            </a:r>
          </a:p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Na época, a ferramenta era a “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BitKeeper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” — um software proprietário, lançado sobre a licença Apache 2.0.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917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História do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Foi então que, em 2005, a relação entre a comunidade de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dev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do Linux e a empresa por trás do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BitKeeper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ficou tensa.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Vixe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! O resultado disso foram diversas restrições e altos custos para usara ferramenta.</a:t>
            </a:r>
          </a:p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Essa situação levou a comunidade, e especialmente Linus Torvalds, o criador do Linux, a criar sua própria ferramenta de controle de versão, 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, que ganhou o coração das pessoas que trabalham com open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source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939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História do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Desde então, 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 passou por melhorias e se tornou uma ferramenta relativamente fácil de usar, mantendo suas características originais, como velocidade, eficiência em projetos grandes e um sistema de ramificação para o desenvolvimento não linear.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38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 e para que serve?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Em uma equipe, apenas poder acessar o código de outras pessoas colaboradoras não é suficiente.</a:t>
            </a:r>
          </a:p>
          <a:p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Mais do que isso: precisamos manter o histórico dos nossos arquivos e das nossas modificações.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500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 e para que serve?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32229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Afinal de contas, muitas vezes mudamos arquivos em grupo, num movimento único que, no contexto do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, é um </a:t>
            </a:r>
            <a:r>
              <a:rPr lang="pt-BR" sz="36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. O que, em tradução literal para português, significa “compromisso” ou “comprometer-se” às alterações em um repositório.</a:t>
            </a:r>
          </a:p>
          <a:p>
            <a:endParaRPr lang="pt-BR" sz="3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Dessa forma, podemos voltar atrás e recuperar o estado do sistema: como ele era ontem, ou no ano passado, comparar as mudanças para encontrar bugs e estudar otimizações.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18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O que é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 e para que serve?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609480" y="162198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	Vamos conferir na imagem abaixo um exemplo de histórico de um projeto de desenvolvimento.</a:t>
            </a:r>
            <a:endParaRPr lang="pt-BR" sz="3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pic>
        <p:nvPicPr>
          <p:cNvPr id="2050" name="Picture 2" descr="A imagem mostra a linha do tempo de commits no ano de 2017. Da esquerda para a direita são mostradas as datas de: 05/02, 17/08 e 24/11. No dia 05/02 foi realizado um commit com a seguinte mensagem: “Adicionando título a página index”. No dia 17/08 foi realizado outro commit com a mensagem: “Altera o título da index para Perfil do usuário e adiciona xyz.png”. Por fim, no dia 24/11 o commit teve a mensagem: “Altera o layout da página">
            <a:extLst>
              <a:ext uri="{FF2B5EF4-FFF2-40B4-BE49-F238E27FC236}">
                <a16:creationId xmlns:a16="http://schemas.microsoft.com/office/drawing/2014/main" id="{E9E71AAD-F76F-46C5-B3C1-668AED3A0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56"/>
          <a:stretch/>
        </p:blipFill>
        <p:spPr bwMode="auto">
          <a:xfrm>
            <a:off x="163489" y="2559024"/>
            <a:ext cx="10291152" cy="429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663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b="1" spc="-1" dirty="0">
                <a:solidFill>
                  <a:srgbClr val="005696"/>
                </a:solidFill>
                <a:latin typeface="Calibri Light"/>
              </a:rPr>
              <a:t>Na imagem acima há destaque para 3 </a:t>
            </a:r>
            <a:r>
              <a:rPr lang="pt-BR" b="1" spc="-1" dirty="0" err="1">
                <a:solidFill>
                  <a:srgbClr val="005696"/>
                </a:solidFill>
                <a:latin typeface="Calibri Light"/>
              </a:rPr>
              <a:t>commits</a:t>
            </a:r>
            <a:r>
              <a:rPr lang="pt-BR" b="1" spc="-1" dirty="0">
                <a:solidFill>
                  <a:srgbClr val="005696"/>
                </a:solidFill>
                <a:latin typeface="Calibri Light"/>
              </a:rPr>
              <a:t>:</a:t>
            </a:r>
            <a:endParaRPr lang="pt-BR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198000" y="35727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1 - “Adicionando título a página index”: Neste primeiro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percebemos que 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dev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responsável criou a estrutura inicial de uma página de perfil de usuário.</a:t>
            </a: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2 - “Altera o título da index para Perfil do usuário e adiciona xyz.png”: Neste segundo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notamos que alteraram o título da página e acrescentaram uma nova imagem.</a:t>
            </a: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3 - “Altera o layout da página”: Neste terceiro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, observamos que alteraram o layout da página de usuário, cores e posições de elementos. Com base nestes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commits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, se porventura o cliente não gostar da mudança de layout implementada no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3, o time</a:t>
            </a:r>
            <a:r>
              <a:rPr lang="pt-BR" sz="3200" b="1" spc="-1" dirty="0">
                <a:solidFill>
                  <a:srgbClr val="005696"/>
                </a:solidFill>
                <a:highlight>
                  <a:srgbClr val="FFFF00"/>
                </a:highlight>
                <a:latin typeface="Calibri Light"/>
                <a:cs typeface="+mn-cs"/>
              </a:rPr>
              <a:t> 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desenvolvimento pode voltar o layout como era no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2.</a:t>
            </a:r>
            <a:endParaRPr lang="pt-BR" sz="32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13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funciona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Mas como será que 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guarda todas essas informações?</a:t>
            </a:r>
          </a:p>
          <a:p>
            <a:endParaRPr lang="pt-BR" sz="32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Todos os nossos arquivos, assim como seus históricos, ficam em um repositório e existiam vários sistemas que gerenciam repositórios assim, como CVS (Sistema de Versões Concorrentes) e SVN (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Subversion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do Apache).</a:t>
            </a:r>
          </a:p>
          <a:p>
            <a:endParaRPr lang="pt-BR" sz="32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é uma alternativa com um funcionamento mais interessante ainda: ele é distribuído e todo mundo tem uma cópia inteira do repositório, não apenas o "servidor principal".</a:t>
            </a:r>
            <a:endParaRPr lang="pt-BR" sz="32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468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funciona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E uma das vantagens disso é que cada pessoa pode desenvolver offline, realizando seus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commits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e outras operações sem depender de uma conexão constante com o servidor principal.</a:t>
            </a:r>
          </a:p>
          <a:p>
            <a:endParaRPr lang="pt-BR" sz="32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Mas…o que é a ferramenta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exatamente?</a:t>
            </a:r>
          </a:p>
          <a:p>
            <a:endParaRPr lang="pt-BR" sz="32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é um sistema de controle de versão distribuído e amplamente adotado. O </a:t>
            </a:r>
            <a:r>
              <a:rPr lang="pt-BR" sz="32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3200" b="1" spc="-1" dirty="0">
                <a:solidFill>
                  <a:srgbClr val="005696"/>
                </a:solidFill>
                <a:latin typeface="Calibri Light"/>
                <a:cs typeface="+mn-cs"/>
              </a:rPr>
              <a:t> nasceu e foi tomando espaço dos outros sistemas de controle.</a:t>
            </a:r>
            <a:endParaRPr lang="pt-BR" sz="32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0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baixar e instalar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Para utilizar 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, você pode seguir esse passo a passo de como fazer o download e instalar, para cada sistema operacional: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Windows: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Acesse o site oficial do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em "https://git-scm.com/download/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win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".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Clique no link para download do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para Windows.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Após o download, execute o instalador.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Siga as instruções do instalador, aceitando as configurações padrão, se não for um usuário avançado.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Conclua a instalação.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744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Depois de instalar 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, você pode começar a usar 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em um projeto. É só seguir essas etapas: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1. Configure seu nome de usuário e e-mail: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registra quem fez cada alteração no código. Portanto, é importante configurar seu nome de usuário e e-mail. Use os comandos, no terminal: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config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--global user.name "Seu Nome"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config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--global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user.email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"seu@email.com"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56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2. Crie um Repositório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Para começar a rastrear seu código, crie um repositório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em seu projeto. Navegue até a pasta do seu projeto e execute: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Comandos: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Ls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para ver diretórios 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+ nome da pasta, para acessar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Mkdir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+ nome da pasta, para criar uma pasta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Exemplos: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Documents</a:t>
            </a:r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mkdir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tds_git</a:t>
            </a:r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tds_git</a:t>
            </a:r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init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0768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3. Adicione Arquivos ao Controle de Versão: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Use o comando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add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para adicionar arquivos ao "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staging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area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", que é onde você prepara os arquivos para serem “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commitados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” ou salvos. (os arquivos devem estar na pasta)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</a:rPr>
              <a:t>touch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</a:rPr>
              <a:t> &lt;arquivo&gt; para criar um arquivo</a:t>
            </a:r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add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nome-do-arquivo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Exemplo: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touch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primeiro_arquivo.txt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add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primairo_arquivo.txt</a:t>
            </a:r>
          </a:p>
        </p:txBody>
      </p:sp>
    </p:spTree>
    <p:extLst>
      <p:ext uri="{BB962C8B-B14F-4D97-AF65-F5344CB8AC3E}">
        <p14:creationId xmlns:p14="http://schemas.microsoft.com/office/powerpoint/2010/main" val="1117422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4. Faça um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Um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é um snapshot de suas alterações. Use o comando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para criar um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com uma mensagem descritiva do que foi alterado no projeto.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-m "Sua mensagem de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aqui“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Exemplo:</a:t>
            </a: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–m “Primeiro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de registro”</a:t>
            </a:r>
          </a:p>
        </p:txBody>
      </p:sp>
    </p:spTree>
    <p:extLst>
      <p:ext uri="{BB962C8B-B14F-4D97-AF65-F5344CB8AC3E}">
        <p14:creationId xmlns:p14="http://schemas.microsoft.com/office/powerpoint/2010/main" val="1909473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5. Visualize o Histórico de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Commits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: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Use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log para ver o histórico de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commits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no repositório.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log</a:t>
            </a:r>
          </a:p>
          <a:p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Essas são as etapas fundamentais para começar a usar 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. Com esses comandos, você pode iniciar o controle de versão de seu código e colaborar em projetos com outras pessoas desenvolvedoras.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720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Como executar o </a:t>
            </a:r>
            <a:r>
              <a:rPr lang="pt-BR" sz="6000" b="1" spc="-1" dirty="0" err="1">
                <a:solidFill>
                  <a:srgbClr val="005696"/>
                </a:solidFill>
                <a:latin typeface="Calibri Light"/>
              </a:rPr>
              <a:t>Git</a:t>
            </a:r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?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519696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Table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2. Common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options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to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log</a:t>
            </a:r>
          </a:p>
          <a:p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Option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	Descrição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-p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o patch introduzido em cada confirmação.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stat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estatísticas dos arquivos modificados em cada confirmação.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shortstat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Exibir apenas a linha alterada/inserções/eliminações do comando 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stat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name-only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a lista de arquivos modificados após as informações de confirmação.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name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-status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também a lista de arquivos afetados com informações adicionadas/modificadas/excluídas..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abbrev-commit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endParaRPr lang="pt-BR" sz="16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endParaRPr lang="pt-BR" sz="16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4DB30CE-9ABC-48B2-B595-02108801C034}"/>
              </a:ext>
            </a:extLst>
          </p:cNvPr>
          <p:cNvSpPr txBox="1">
            <a:spLocks/>
          </p:cNvSpPr>
          <p:nvPr/>
        </p:nvSpPr>
        <p:spPr>
          <a:xfrm>
            <a:off x="6096000" y="3387825"/>
            <a:ext cx="519696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também a lista de arquivos afetados com informações adicionadas/modificadas/excluídas..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abbrev-commit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apenas os primeiros caracteres da soma de verificação SHA-1 em vez de todos os 40.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relative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-date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a data em formato relativo (por exemplo, “2 semanas atrás”) em vez do formato completo.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graph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Mostra um gráfico ASCII com o histórico de ramos e junções.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pretty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Mostre as confirmações usando um formato alternativo. Possíveis opções são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oneline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, short, full,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fuller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e 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format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(através do qual podes especificar o teu próprio formato).</a:t>
            </a: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oneline</a:t>
            </a:r>
            <a:endParaRPr lang="pt-BR" sz="20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Estenografia para 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pretty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=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oneline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--</a:t>
            </a:r>
            <a:r>
              <a:rPr lang="pt-BR" sz="20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abbrev-commit</a:t>
            </a:r>
            <a:r>
              <a:rPr lang="pt-BR" sz="2000" b="1" spc="-1" dirty="0">
                <a:solidFill>
                  <a:srgbClr val="005696"/>
                </a:solidFill>
                <a:latin typeface="Calibri Light"/>
                <a:cs typeface="+mn-cs"/>
              </a:rPr>
              <a:t> usada em conjunto.</a:t>
            </a:r>
            <a:endParaRPr lang="pt-BR" sz="2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075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80" y="40533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Exercício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1 – Acessar a pasta Downloads pelo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endParaRPr lang="pt-BR" sz="2800" b="1" spc="-1" dirty="0">
              <a:solidFill>
                <a:srgbClr val="005696"/>
              </a:solidFill>
              <a:latin typeface="Calibri Light"/>
              <a:cs typeface="+mn-cs"/>
            </a:endParaRP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2 - Criar dentro da pasta Downloads, uma pasta com o nome “Projeto_1”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3 – Criar dentro da pasta Projeto_1, um arquivo com o nome meu_arquivo.txt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4 – Adicionar o arquivo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5 – Criar um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com a mensagem “Criando o arquivo”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6 – Escreva dentro do arquivo o seus dados pessoais, nome, idade e e-mail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7 – Criar um segundo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com a mensagem “Adicionando meus dados no arquivo”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8 – Visualizar o log dos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commits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realizados 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9 – Crie um segundo arquivo</a:t>
            </a:r>
          </a:p>
          <a:p>
            <a:pPr marL="514350" indent="-514350">
              <a:buAutoNum type="arabicPlain" startAt="10"/>
            </a:pP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- Delete o primeiro arquivo criado</a:t>
            </a:r>
          </a:p>
          <a:p>
            <a:pPr marL="514350" indent="-514350">
              <a:buAutoNum type="arabicPlain" startAt="10"/>
            </a:pP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- Renomear o segundo arquivo</a:t>
            </a:r>
          </a:p>
          <a:p>
            <a:pPr marL="514350" indent="-514350">
              <a:buAutoNum type="arabicPlain" startAt="10"/>
            </a:pP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- Colocar seu nome no segundo arquivo</a:t>
            </a:r>
          </a:p>
          <a:p>
            <a:pPr marL="514350" indent="-514350">
              <a:buAutoNum type="arabicPlain" startAt="10"/>
            </a:pP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- Restaurar o primeira arquivo</a:t>
            </a:r>
          </a:p>
          <a:p>
            <a:pPr marL="514350" indent="-514350">
              <a:buAutoNum type="arabicPlain" startAt="10"/>
            </a:pP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- Realizar um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commit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para cada ação</a:t>
            </a:r>
          </a:p>
        </p:txBody>
      </p:sp>
    </p:spTree>
    <p:extLst>
      <p:ext uri="{BB962C8B-B14F-4D97-AF65-F5344CB8AC3E}">
        <p14:creationId xmlns:p14="http://schemas.microsoft.com/office/powerpoint/2010/main" val="429547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603450"/>
            <a:ext cx="1097244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</a:rPr>
              <a:t>Referências</a:t>
            </a:r>
            <a:endParaRPr lang="pt-BR" sz="60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8C9E3FA-A0C0-4EAB-9E70-A56A20274E11}"/>
              </a:ext>
            </a:extLst>
          </p:cNvPr>
          <p:cNvSpPr/>
          <p:nvPr/>
        </p:nvSpPr>
        <p:spPr>
          <a:xfrm>
            <a:off x="9220200" y="6172200"/>
            <a:ext cx="2808312" cy="412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4301E9-7543-48F3-AE02-972AD6903DF9}"/>
              </a:ext>
            </a:extLst>
          </p:cNvPr>
          <p:cNvSpPr txBox="1">
            <a:spLocks/>
          </p:cNvSpPr>
          <p:nvPr/>
        </p:nvSpPr>
        <p:spPr>
          <a:xfrm>
            <a:off x="304680" y="3387825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Artigo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Alura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: O que é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 e </a:t>
            </a:r>
            <a:r>
              <a:rPr lang="pt-BR" sz="2800" b="1" spc="-1" dirty="0" err="1">
                <a:solidFill>
                  <a:srgbClr val="005696"/>
                </a:solidFill>
                <a:latin typeface="Calibri Light"/>
                <a:cs typeface="+mn-cs"/>
              </a:rPr>
              <a:t>Github</a:t>
            </a:r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: os primeiros passos nessas ferramentas. Camila Fernanda e Vinícius Louzada</a:t>
            </a:r>
          </a:p>
          <a:p>
            <a:r>
              <a:rPr lang="pt-BR" sz="2800" b="1" spc="-1" dirty="0">
                <a:solidFill>
                  <a:srgbClr val="005696"/>
                </a:solidFill>
                <a:latin typeface="Calibri Light"/>
                <a:cs typeface="+mn-cs"/>
              </a:rPr>
              <a:t>https://www.alura.com.br/artigos/o-que-e-git-github</a:t>
            </a:r>
            <a:endParaRPr lang="pt-BR" sz="28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849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1311</TotalTime>
  <Words>1943</Words>
  <Application>Microsoft Office PowerPoint</Application>
  <PresentationFormat>Widescreen</PresentationFormat>
  <Paragraphs>185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Symbol</vt:lpstr>
      <vt:lpstr>Wingdings</vt:lpstr>
      <vt:lpstr>Office Theme</vt:lpstr>
      <vt:lpstr>Office Theme</vt:lpstr>
      <vt:lpstr>Apresentação do PowerPoint</vt:lpstr>
      <vt:lpstr>      Carga horária da UC!!</vt:lpstr>
      <vt:lpstr>      Critérios de Avaliação!!!</vt:lpstr>
      <vt:lpstr>      Conceito final da UC!!!</vt:lpstr>
      <vt:lpstr>Conhecimentos</vt:lpstr>
      <vt:lpstr>Onde vamos utilizar?</vt:lpstr>
      <vt:lpstr>Onde vamos utilizar?</vt:lpstr>
      <vt:lpstr>Onde vamos utilizar?</vt:lpstr>
      <vt:lpstr>O que é GIT e GITHUB?</vt:lpstr>
      <vt:lpstr>O que é GIT e GITHUB?</vt:lpstr>
      <vt:lpstr>O que é GIT e GITHUB?</vt:lpstr>
      <vt:lpstr>O que é GIT e GITHUB?</vt:lpstr>
      <vt:lpstr>História do Git</vt:lpstr>
      <vt:lpstr>História do Git</vt:lpstr>
      <vt:lpstr>História do Git</vt:lpstr>
      <vt:lpstr>O que é Git e para que serve?</vt:lpstr>
      <vt:lpstr>O que é Git e para que serve?</vt:lpstr>
      <vt:lpstr>O que é Git e para que serve?</vt:lpstr>
      <vt:lpstr>Na imagem acima há destaque para 3 commits:</vt:lpstr>
      <vt:lpstr>Como funciona o Git?</vt:lpstr>
      <vt:lpstr>Como funciona o Git?</vt:lpstr>
      <vt:lpstr>Como baixar e instalar o Git?</vt:lpstr>
      <vt:lpstr>Como executar o Git?</vt:lpstr>
      <vt:lpstr>Como executar o Git?</vt:lpstr>
      <vt:lpstr>Como executar o Git?</vt:lpstr>
      <vt:lpstr>Como executar o Git?</vt:lpstr>
      <vt:lpstr>Como executar o Git?</vt:lpstr>
      <vt:lpstr>Como executar o Git?</vt:lpstr>
      <vt:lpstr>Exercício</vt:lpstr>
      <vt:lpstr>Referências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90</cp:revision>
  <dcterms:created xsi:type="dcterms:W3CDTF">2019-04-01T17:03:04Z</dcterms:created>
  <dcterms:modified xsi:type="dcterms:W3CDTF">2025-11-12T15:01:54Z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